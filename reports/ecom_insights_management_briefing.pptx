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revenue</c:v>
                </c:pt>
              </c:strCache>
            </c:strRef>
          </c:tx>
          <c:cat>
            <c:strRef>
              <c:f>Sheet1!$A$2:$A$14</c:f>
              <c:strCache>
                <c:ptCount val="13"/>
                <c:pt idx="0">
                  <c:v>Jun 25</c:v>
                </c:pt>
                <c:pt idx="1">
                  <c:v>Jul 25</c:v>
                </c:pt>
                <c:pt idx="2">
                  <c:v>Aug 25</c:v>
                </c:pt>
                <c:pt idx="3">
                  <c:v>Sep 25</c:v>
                </c:pt>
                <c:pt idx="4">
                  <c:v>Oct 25</c:v>
                </c:pt>
                <c:pt idx="5">
                  <c:v>Nov 25</c:v>
                </c:pt>
                <c:pt idx="6">
                  <c:v>Dec 25</c:v>
                </c:pt>
                <c:pt idx="7">
                  <c:v>Jan 26</c:v>
                </c:pt>
                <c:pt idx="8">
                  <c:v>Feb 26</c:v>
                </c:pt>
                <c:pt idx="9">
                  <c:v>Mar 26</c:v>
                </c:pt>
                <c:pt idx="10">
                  <c:v>Apr 26</c:v>
                </c:pt>
                <c:pt idx="11">
                  <c:v>May 26</c:v>
                </c:pt>
                <c:pt idx="12">
                  <c:v>Jun 26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290.0</c:v>
                </c:pt>
                <c:pt idx="1">
                  <c:v>20035.0</c:v>
                </c:pt>
                <c:pt idx="2">
                  <c:v>22505.0</c:v>
                </c:pt>
                <c:pt idx="3">
                  <c:v>20595.0</c:v>
                </c:pt>
                <c:pt idx="4">
                  <c:v>22125.0</c:v>
                </c:pt>
                <c:pt idx="5">
                  <c:v>21020.0</c:v>
                </c:pt>
                <c:pt idx="6">
                  <c:v>21565.0</c:v>
                </c:pt>
                <c:pt idx="7">
                  <c:v>21440.0</c:v>
                </c:pt>
                <c:pt idx="8">
                  <c:v>18355.0</c:v>
                </c:pt>
                <c:pt idx="9">
                  <c:v>22140.0</c:v>
                </c:pt>
                <c:pt idx="10">
                  <c:v>20115.0</c:v>
                </c:pt>
                <c:pt idx="11">
                  <c:v>23295.0</c:v>
                </c:pt>
                <c:pt idx="12">
                  <c:v>19600.0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Sports</c:v>
                </c:pt>
                <c:pt idx="1">
                  <c:v>Books</c:v>
                </c:pt>
                <c:pt idx="2">
                  <c:v>Home</c:v>
                </c:pt>
                <c:pt idx="3">
                  <c:v>Clothing</c:v>
                </c:pt>
                <c:pt idx="4">
                  <c:v>Electronics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64898.75</c:v>
                </c:pt>
                <c:pt idx="1">
                  <c:v>56326.5</c:v>
                </c:pt>
                <c:pt idx="2">
                  <c:v>45726.5</c:v>
                </c:pt>
                <c:pt idx="3">
                  <c:v>38772.5</c:v>
                </c:pt>
                <c:pt idx="4">
                  <c:v>28220.5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revenue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Product 18</c:v>
                </c:pt>
                <c:pt idx="1">
                  <c:v>Product 19</c:v>
                </c:pt>
                <c:pt idx="2">
                  <c:v>Product 28</c:v>
                </c:pt>
                <c:pt idx="3">
                  <c:v>Product 9</c:v>
                </c:pt>
                <c:pt idx="4">
                  <c:v>Product 48</c:v>
                </c:pt>
                <c:pt idx="5">
                  <c:v>Product 8</c:v>
                </c:pt>
                <c:pt idx="6">
                  <c:v>Product 29</c:v>
                </c:pt>
                <c:pt idx="7">
                  <c:v>Product 49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8320.0</c:v>
                </c:pt>
                <c:pt idx="1">
                  <c:v>8700.0</c:v>
                </c:pt>
                <c:pt idx="2">
                  <c:v>8710.0</c:v>
                </c:pt>
                <c:pt idx="3">
                  <c:v>8990.0</c:v>
                </c:pt>
                <c:pt idx="4">
                  <c:v>9100.0</c:v>
                </c:pt>
                <c:pt idx="5">
                  <c:v>9620.0</c:v>
                </c:pt>
                <c:pt idx="6">
                  <c:v>10440.0</c:v>
                </c:pt>
                <c:pt idx="7">
                  <c:v>10585.0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reports/kpis.json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reports/kpis.json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data/processed/sales_trends.csv</a:t>
            </a:r>
          </a:p>
          <a:p>
            <a:r>
              <a:t>reports/kpis.json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data/processed/fact_sales.csv</a:t>
            </a:r>
          </a:p>
          <a:p>
            <a:r>
              <a:t>data/processed/dim_product.csv</a:t>
            </a:r>
          </a:p>
          <a:p>
            <a:r>
              <a:t>reports/kpis.json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data/processed/product_performance.csv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reports/kpis.json</a:t>
            </a:r>
          </a:p>
          <a:p>
            <a:r>
              <a:t>README.md#limitations</a:t>
            </a:r>
          </a:p>
          <a:p>
            <a:r>
              <a:t>data/processed/customer_segments.csv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reports/executive_briefing.json</a:t>
            </a:r>
          </a:p>
          <a:p>
            <a:r>
              <a:t>reports/kpis.json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417320"/>
            <a:ext cx="68580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E-Commerce</a:t>
            </a:r>
            <a:br/>
            <a:r>
              <a:t>Management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375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B9D7EA"/>
                </a:solidFill>
                <a:latin typeface="Aptos"/>
              </a:defRPr>
            </a:pPr>
            <a:r>
              <a:t>2025-06-30 — 2026-06-30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406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9D7EA"/>
                </a:solidFill>
                <a:latin typeface="Aptos"/>
              </a:defRPr>
            </a:pPr>
            <a:r>
              <a:t>Validated pipeline outputs • Excel and PowerPoint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2514600"/>
            <a:ext cx="2377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"/>
              </a:defRPr>
            </a:pPr>
            <a:r>
              <a:t>ECOM</a:t>
            </a:r>
            <a:br/>
            <a:r>
              <a:t>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7324D"/>
                </a:solidFill>
                <a:latin typeface="Aptos Display"/>
              </a:defRPr>
            </a:pPr>
            <a:r>
              <a:t>Revenue is healthy, but one in four orders is cancelled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14300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64465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67788"/>
                </a:solidFill>
                <a:latin typeface="Aptos"/>
              </a:defRPr>
            </a:pPr>
            <a:r>
              <a:t>Ecom Insights  •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9184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2344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2A9D8F"/>
                </a:solidFill>
                <a:latin typeface="Aptos Display"/>
              </a:defRPr>
            </a:pPr>
            <a:r>
              <a:t>$233,945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667788"/>
                </a:solidFill>
                <a:latin typeface="Aptos"/>
              </a:defRPr>
            </a:pPr>
            <a:r>
              <a:t>Net 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9184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12344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0020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F77B4"/>
                </a:solidFill>
                <a:latin typeface="Aptos Display"/>
              </a:defRPr>
            </a:pPr>
            <a:r>
              <a:t>817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6712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667788"/>
                </a:solidFill>
                <a:latin typeface="Aptos"/>
              </a:defRPr>
            </a:pPr>
            <a:r>
              <a:t>Included orders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29184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73152" cy="12344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60020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Aptos Display"/>
              </a:defRPr>
            </a:pPr>
            <a:r>
              <a:t>$286.35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16712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667788"/>
                </a:solidFill>
                <a:latin typeface="Aptos"/>
              </a:defRPr>
            </a:pPr>
            <a:r>
              <a:t>Net average order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63240"/>
            <a:ext cx="329184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063240"/>
            <a:ext cx="73152" cy="123444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4612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3A7D44"/>
                </a:solidFill>
                <a:latin typeface="Aptos Display"/>
              </a:defRPr>
            </a:pPr>
            <a:r>
              <a:t>35.09%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81304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667788"/>
                </a:solidFill>
                <a:latin typeface="Aptos"/>
              </a:defRPr>
            </a:pPr>
            <a:r>
              <a:t>Gross margin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063240"/>
            <a:ext cx="329184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063240"/>
            <a:ext cx="73152" cy="1234440"/>
          </a:xfrm>
          <a:prstGeom prst="rect">
            <a:avLst/>
          </a:prstGeom>
          <a:solidFill>
            <a:srgbClr val="E9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24612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9A23B"/>
                </a:solidFill>
                <a:latin typeface="Aptos Display"/>
              </a:defRPr>
            </a:pPr>
            <a:r>
              <a:t>$19,135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81304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667788"/>
                </a:solidFill>
                <a:latin typeface="Aptos"/>
              </a:defRPr>
            </a:pPr>
            <a:r>
              <a:t>Discounts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063240"/>
            <a:ext cx="329184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063240"/>
            <a:ext cx="73152" cy="1234440"/>
          </a:xfrm>
          <a:prstGeom prst="rect">
            <a:avLst/>
          </a:prstGeom>
          <a:solidFill>
            <a:srgbClr val="C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24612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C84A4A"/>
                </a:solidFill>
                <a:latin typeface="Aptos Display"/>
              </a:defRPr>
            </a:pPr>
            <a:r>
              <a:t>24.98%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81304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667788"/>
                </a:solidFill>
                <a:latin typeface="Aptos"/>
              </a:defRPr>
            </a:pPr>
            <a:r>
              <a:t>Cancelled order share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006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7324D"/>
                </a:solidFill>
                <a:latin typeface="Aptos"/>
              </a:defRPr>
            </a:pPr>
            <a:r>
              <a:t>Management implication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212080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0">
                <a:solidFill>
                  <a:srgbClr val="24323F"/>
                </a:solidFill>
                <a:latin typeface="Aptos"/>
              </a:defRPr>
            </a:pPr>
            <a:r>
              <a:t>Cancellation reduction is the clearest near-term lever for protecting realized revenue.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7324D"/>
                </a:solidFill>
                <a:latin typeface="Aptos Display"/>
              </a:defRPr>
            </a:pPr>
            <a:r>
              <a:t>Gross revenue remains broadly stable after the launch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14300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64465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67788"/>
                </a:solidFill>
                <a:latin typeface="Aptos"/>
              </a:defRPr>
            </a:pPr>
            <a:r>
              <a:t>Ecom Insights  •  3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325880"/>
          <a:ext cx="758952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41080" y="15087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7324D"/>
                </a:solidFill>
                <a:latin typeface="Aptos"/>
              </a:defRPr>
            </a:pPr>
            <a:r>
              <a:t>What it means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20574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4323F"/>
                </a:solidFill>
                <a:latin typeface="Aptos"/>
              </a:defRPr>
            </a:pPr>
            <a:r>
              <a:t>• The first partial month should not be compared with full months.</a:t>
            </a:r>
          </a:p>
          <a:p>
            <a:pPr>
              <a:spcAft>
                <a:spcPts val="1200"/>
              </a:spcAft>
              <a:defRPr sz="1600">
                <a:solidFill>
                  <a:srgbClr val="24323F"/>
                </a:solidFill>
                <a:latin typeface="Aptos"/>
              </a:defRPr>
            </a:pPr>
            <a:r>
              <a:t>• Subsequent months stay within a relatively narrow band.</a:t>
            </a:r>
          </a:p>
          <a:p>
            <a:pPr>
              <a:spcAft>
                <a:spcPts val="1200"/>
              </a:spcAft>
              <a:defRPr sz="1600">
                <a:solidFill>
                  <a:srgbClr val="24323F"/>
                </a:solidFill>
                <a:latin typeface="Aptos"/>
              </a:defRPr>
            </a:pPr>
            <a:r>
              <a:t>• This chart shows gross revenue; headline KPIs use net revenue after discounts.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7324D"/>
                </a:solidFill>
                <a:latin typeface="Aptos Display"/>
              </a:defRPr>
            </a:pPr>
            <a:r>
              <a:t>Sports leads net revenue; Electronics needs diagnosis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14300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64465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67788"/>
                </a:solidFill>
                <a:latin typeface="Aptos"/>
              </a:defRPr>
            </a:pPr>
            <a:r>
              <a:t>Ecom Insights  •  4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280160"/>
          <a:ext cx="73152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66760" y="14173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7324D"/>
                </a:solidFill>
                <a:latin typeface="Aptos"/>
              </a:defRPr>
            </a:pPr>
            <a:r>
              <a:t>Category spread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201168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3A7D44"/>
                </a:solidFill>
                <a:latin typeface="Aptos"/>
              </a:defRPr>
            </a:pPr>
            <a:r>
              <a:t>Sports</a:t>
            </a:r>
            <a:br/>
            <a:r>
              <a:t>$64,899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333756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C84A4A"/>
                </a:solidFill>
                <a:latin typeface="Aptos"/>
              </a:defRPr>
            </a:pPr>
            <a:r>
              <a:t>Electronics</a:t>
            </a:r>
            <a:br/>
            <a:r>
              <a:t>$28,220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4709160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4323F"/>
                </a:solidFill>
                <a:latin typeface="Aptos"/>
              </a:defRPr>
            </a:pPr>
            <a:r>
              <a:t>Protect the leader while testing pricing, assortment, and demand in the weakest category.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7324D"/>
                </a:solidFill>
                <a:latin typeface="Aptos Display"/>
              </a:defRPr>
            </a:pPr>
            <a:r>
              <a:t>Top products concentrate gross-revenue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14300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64465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67788"/>
                </a:solidFill>
                <a:latin typeface="Aptos"/>
              </a:defRPr>
            </a:pPr>
            <a:r>
              <a:t>Ecom Insights  •  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280160"/>
          <a:ext cx="73152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66760" y="14630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7324D"/>
                </a:solidFill>
                <a:latin typeface="Aptos"/>
              </a:defRPr>
            </a:pPr>
            <a:r>
              <a:t>Use the ranking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0574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4323F"/>
                </a:solidFill>
                <a:latin typeface="Aptos"/>
              </a:defRPr>
            </a:pPr>
            <a:r>
              <a:t>• Prioritize availability for the strongest products.</a:t>
            </a:r>
          </a:p>
          <a:p>
            <a:pPr>
              <a:spcAft>
                <a:spcPts val="1200"/>
              </a:spcAft>
              <a:defRPr sz="1600">
                <a:solidFill>
                  <a:srgbClr val="24323F"/>
                </a:solidFill>
                <a:latin typeface="Aptos"/>
              </a:defRPr>
            </a:pPr>
            <a:r>
              <a:t>• Separate volume effects from price effects before changing assortment.</a:t>
            </a:r>
          </a:p>
          <a:p>
            <a:pPr>
              <a:spcAft>
                <a:spcPts val="1200"/>
              </a:spcAft>
              <a:defRPr sz="1600">
                <a:solidFill>
                  <a:srgbClr val="24323F"/>
                </a:solidFill>
                <a:latin typeface="Aptos"/>
              </a:defRPr>
            </a:pPr>
            <a:r>
              <a:t>• Product revenue is gross and excludes Cancelled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7324D"/>
                </a:solidFill>
                <a:latin typeface="Aptos Display"/>
              </a:defRPr>
            </a:pPr>
            <a:r>
              <a:t>Customer retention is a data-quality warning, not a win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14300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64465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67788"/>
                </a:solidFill>
                <a:latin typeface="Aptos"/>
              </a:defRPr>
            </a:pPr>
            <a:r>
              <a:t>Ecom Insights  •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C84A4A"/>
                </a:solidFill>
                <a:latin typeface="Aptos Display"/>
              </a:defRPr>
            </a:pPr>
            <a: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667788"/>
                </a:solidFill>
                <a:latin typeface="Aptos"/>
              </a:defRPr>
            </a:pPr>
            <a:r>
              <a:t>reported repeat-customer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6949440" cy="1828800"/>
          </a:xfrm>
          <a:prstGeom prst="roundRect">
            <a:avLst/>
          </a:prstGeom>
          <a:solidFill>
            <a:srgbClr val="FFF2CC"/>
          </a:solidFill>
          <a:ln>
            <a:solidFill>
              <a:srgbClr val="E9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916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7F6000"/>
                </a:solidFill>
                <a:latin typeface="Aptos"/>
              </a:defRPr>
            </a:pPr>
            <a:r>
              <a:t>Why this cannot guide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194560"/>
            <a:ext cx="6172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4323F"/>
                </a:solidFill>
                <a:latin typeface="Aptos"/>
              </a:defRPr>
            </a:pPr>
            <a:r>
              <a:t>The synthetic generator repeatedly assigns orders across only 100 customers. The result reflects test-data construction, not real loyalty.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7324D"/>
                </a:solidFill>
                <a:latin typeface="Aptos"/>
              </a:defRPr>
            </a:pPr>
            <a:r>
              <a:t>Next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3484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24323F"/>
                </a:solidFill>
                <a:latin typeface="Aptos"/>
              </a:defRPr>
            </a:pPr>
            <a:r>
              <a:t>Re-run segmentation and cohort analysis on production data before funding retention or loyalty initiatives.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7324D"/>
                </a:solidFill>
                <a:latin typeface="Aptos Display"/>
              </a:defRPr>
            </a:pPr>
            <a:r>
              <a:t>Three actions protect revenue and improve decision quality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14300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64465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67788"/>
                </a:solidFill>
                <a:latin typeface="Aptos"/>
              </a:defRPr>
            </a:pPr>
            <a:r>
              <a:t>Ecom Insights  •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777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C84A4A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25880"/>
            <a:ext cx="9235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4323F"/>
                </a:solidFill>
                <a:latin typeface="Aptos"/>
              </a:defRPr>
            </a:pPr>
            <a:r>
              <a:t>Investigate the root causes behind the 272 cancelled orders (24.98% of orders), since reducing cancellations directly protects gross revenue and net revenue.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39"/>
            <a:ext cx="777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E9A23B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834639"/>
            <a:ext cx="9235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4323F"/>
                </a:solidFill>
                <a:latin typeface="Aptos"/>
              </a:defRPr>
            </a:pPr>
            <a:r>
              <a:t>Review discounting practices, as $19,135.25 in discounts is eroding gross revenue down to net revenue and compressing the margin base used for the 35.09% gross margin figure.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43400"/>
            <a:ext cx="777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2A9D8F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343400"/>
            <a:ext cx="9235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4323F"/>
                </a:solidFill>
                <a:latin typeface="Aptos"/>
              </a:defRPr>
            </a:pPr>
            <a:r>
              <a:t>Reassess merchandising and inventory investment in Electronics given its net revenue of $28,220.50 trails well behind the top-performing Sports category's $64,898.75, and consider reallocating marketing spend toward Sports while diagnosing Electronics' weakness.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67788"/>
                </a:solidFill>
                <a:latin typeface="Aptos"/>
              </a:defRPr>
            </a:pPr>
            <a:r>
              <a:t>Success means management reporting stays traceable: every number maps back to a validated KPI or processed dataset.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Ecom Insights Management Briefing</dc:title>
  <dc:subject>Management briefing generated from validated pipeline outputs</dc:subject>
  <dc:creator>Ecom Insights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